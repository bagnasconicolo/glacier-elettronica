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cef541e-8b23-df79-7f8b-b74b59c799cb}">
          <p14:sldIdLst>
            <p14:sldId id="256"/>
          </p14:sldIdLst>
        </p14:section>
        <p14:section name="Perché" id="{fd3553b2-957b-2edb-8b4e-2ee3f114ae4d}">
          <p14:sldIdLst>
            <p14:sldId id="257"/>
            <p14:sldId id="258"/>
          </p14:sldIdLst>
        </p14:section>
        <p14:section name="La scheda" id="{cf5cb8f3-980b-444e-f1c1-07dc0e9aa67c}">
          <p14:sldIdLst>
            <p14:sldId id="259"/>
            <p14:sldId id="260"/>
            <p14:sldId id="261"/>
            <p14:sldId id="262"/>
          </p14:sldIdLst>
        </p14:section>
        <p14:section name="Budget" id="{62d4d43e-2c0b-a645-ab4c-fa5fa8d24c12}">
          <p14:sldIdLst>
            <p14:sldId id="263"/>
            <p14:sldId id="264"/>
            <p14:sldId id="265"/>
          </p14:sldIdLst>
        </p14:section>
        <p14:section name="Prossimi passi" id="{f175d754-0374-488b-6596-f15ffd19ffd7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Budget (€, IVA inclusa)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5C6E8"/>
              </a:solidFill>
              <a:ln w="12700" cap="flat">
                <a:solidFill>
                  <a:srgbClr val="1A1F27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A93B"/>
              </a:solidFill>
              <a:ln w="12700" cap="flat">
                <a:solidFill>
                  <a:srgbClr val="1A1F27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8C98A8"/>
              </a:solidFill>
              <a:ln w="12700" cap="flat">
                <a:solidFill>
                  <a:srgbClr val="1A1F27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€#,##0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A1F27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€#,##0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A1F27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€#,##0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1A1F27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€#,##0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SiPM (15)</c:v>
                </c:pt>
                <c:pt idx="1">
                  <c:v>Componenti da saldare</c:v>
                </c:pt>
                <c:pt idx="2">
                  <c:v>PCB e montaggio JLCPCB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312.01</c:v>
                </c:pt>
                <c:pt idx="1">
                  <c:v>268.55</c:v>
                </c:pt>
                <c:pt idx="2">
                  <c:v>164.08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C9D1D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Presentiamo una scheda per rivelare i muoni dei raggi cosmici, pensata per portare la fisica delle particelle nelle scuole. Tre canali, uscita in coincidenza, tutto leggibile direttamente sulla scheda.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flusso di muoni al suolo è circa un muone per centimetro quadrato al minuto: sulla superficie di una mano, circa uno al secondo. Nascono a circa 15 km di quota e vivono 2,2 microsecondi: senza la dilatazione dei tempi non arriverebbero a terra. È un aggancio naturale con il programma di fisica.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catena di un canale ha quattro blocchi numerati, gli stessi numeri stampati sulla scheda. Sotto ci sono i tre circuiti di supporto, con le lettere A, B, C. Gli studenti possono seguire il segnale con l'oscilloscopio da un blocco al successivo.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scheda è organizzata come lo schema: in alto l'alimentazione, poi tre canali identici, in fondo la coincidenza. Ogni blocco ha il suo nome e il suo numero, ogni componente il suo riferimento. Sul retro c'è una legenda che spiega il funzionamento.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canale ha sei test point accanto al punto che misurano: segnale del SiPM, ingresso del comparatore, soglia, uscita, bias e massa. Le piste sono corte, quindi l'oscilloscopio vede il segnale vero. Gli anelli Keystone sono opzionali: in alternativa si usano pin di strip, già nel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rumore termico del SiPM produce impulsi in un canale alla volta; un muone invece attraversa tutte le barre insieme. La porta AND conta solo gli eventi simultanei. Con i jumper si sceglie quali canali includere. Le quattro uscite si leggono con un Raspberry 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ordinare abbiamo simulato tutta la scheda con modelli dei componenti: alimentazioni, alta tensione, bias, impulsi e LED tornano con i valori attesi. Il PCB passa il controllo geometrico e la verifica di connettività rispetto allo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totale per cinque schede è di circa 745 euro IVA inclusa: 164 per PCB e montaggio da JLCPCB, 581 per i componenti da Mouser, di cui 312 sono i 15 SiPM. Una scheda completa costa circa 149 euro, senza sensori circa 87.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JLCPCB produce i PCB e monta i 131 componenti SMD standard. Da Mouser arrivano i componenti da saldare a mano e i sensori, in un solo ordine con spedizione gratuita e dazi inclusi.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anelli Keystone sono una scelta di comodità. Il rischio vero è la disponibilità: tre chip del circuito sono a fine vita e non si possono rendere, quindi conviene comprare qualche scorta adesso. Prima dell'ordine si controllano il footprint dei LEMO e il DRC di KiCad.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file per JLCPCB e il carrello Mouser sono pronti. Dopo l'arrivo si saldano a mano i pochi componenti speciali e si collauda un canale alla volta, seguendo la procedura scritta. Chiediamo l'approvazione del budget per partire con gli ordini.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Riepilogo: tutto il materiale per produrre le cinque schede è pronto; manca solo il via libera al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51206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49377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Rivelatore di muoni · 3 canali · attività 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Muoni in classe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 rivelatore di raggi cosmici a 3 canali, progettato per le attività STEM nelle scuole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schede · 15 canali · budget completo €745</a:t>
            </a:r>
            <a:endParaRPr lang="en-US" sz="1600" dirty="0"/>
          </a:p>
        </p:txBody>
      </p:sp>
      <p:pic>
        <p:nvPicPr>
          <p:cNvPr id="5" name="render scheda iso" descr="/tmp/claude-0/-home-user-glacier-elettronica/f6e969b0-ef40-5949-b4fe-458eec145068/scratchpad/deck/img/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80160"/>
            <a:ext cx="5760720" cy="37141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Ogni secondo un muone attraversa la tua mano</a:t>
            </a:r>
            <a:endParaRPr lang="en-US" sz="3400" dirty="0"/>
          </a:p>
        </p:txBody>
      </p:sp>
      <p:sp>
        <p:nvSpPr>
          <p:cNvPr id="3" name="stat 0"/>
          <p:cNvSpPr/>
          <p:nvPr/>
        </p:nvSpPr>
        <p:spPr>
          <a:xfrm>
            <a:off x="548640" y="1463040"/>
            <a:ext cx="3474720" cy="374904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</p:sp>
      <p:sp>
        <p:nvSpPr>
          <p:cNvPr id="4" name="icona 0"/>
          <p:cNvSpPr/>
          <p:nvPr/>
        </p:nvSpPr>
        <p:spPr>
          <a:xfrm>
            <a:off x="91440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938528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muone per cm² al minuto, al livello del mare</a:t>
            </a:r>
            <a:endParaRPr lang="en-US" sz="1600" dirty="0"/>
          </a:p>
        </p:txBody>
      </p:sp>
      <p:sp>
        <p:nvSpPr>
          <p:cNvPr id="8" name="stat 1"/>
          <p:cNvSpPr/>
          <p:nvPr/>
        </p:nvSpPr>
        <p:spPr>
          <a:xfrm>
            <a:off x="4297680" y="1463040"/>
            <a:ext cx="3474720" cy="374904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</p:sp>
      <p:sp>
        <p:nvSpPr>
          <p:cNvPr id="9" name="icona 1"/>
          <p:cNvSpPr/>
          <p:nvPr/>
        </p:nvSpPr>
        <p:spPr>
          <a:xfrm>
            <a:off x="46634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1938528"/>
            <a:ext cx="374904" cy="3749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km</a:t>
            </a:r>
            <a:endParaRPr lang="en-US" sz="5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 quota a cui nascono, quando i raggi cosmici urtano l'atmosfera</a:t>
            </a:r>
            <a:endParaRPr lang="en-US" sz="1600" dirty="0"/>
          </a:p>
        </p:txBody>
      </p:sp>
      <p:sp>
        <p:nvSpPr>
          <p:cNvPr id="13" name="stat 2"/>
          <p:cNvSpPr/>
          <p:nvPr/>
        </p:nvSpPr>
        <p:spPr>
          <a:xfrm>
            <a:off x="8046720" y="1463040"/>
            <a:ext cx="3474720" cy="374904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</p:sp>
      <p:sp>
        <p:nvSpPr>
          <p:cNvPr id="14" name="icona 2"/>
          <p:cNvSpPr/>
          <p:nvPr/>
        </p:nvSpPr>
        <p:spPr>
          <a:xfrm>
            <a:off x="841248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1938528"/>
            <a:ext cx="374904" cy="37490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 µs</a:t>
            </a:r>
            <a:endParaRPr lang="en-US" sz="54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 loro vita media: arrivano a terra solo grazie alla relatività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Un fenomeno invisibile che gli studenti possono contare, misurare e collegare alla relatività ristretta.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Dalla luce al segnale digitale in quattro passi</a:t>
            </a:r>
            <a:endParaRPr lang="en-US" sz="3400" dirty="0"/>
          </a:p>
        </p:txBody>
      </p:sp>
      <p:sp>
        <p:nvSpPr>
          <p:cNvPr id="3" name="passo 1"/>
          <p:cNvSpPr/>
          <p:nvPr/>
        </p:nvSpPr>
        <p:spPr>
          <a:xfrm>
            <a:off x="548640" y="1463040"/>
            <a:ext cx="251460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4" name="numero 1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SiPM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trasforma il lampo di luce della barra in un impulso di corrente</a:t>
            </a:r>
            <a:endParaRPr lang="en-US" sz="1400" dirty="0"/>
          </a:p>
        </p:txBody>
      </p:sp>
      <p:sp>
        <p:nvSpPr>
          <p:cNvPr id="8" name="freccia 0"/>
          <p:cNvSpPr/>
          <p:nvPr/>
        </p:nvSpPr>
        <p:spPr>
          <a:xfrm>
            <a:off x="3108960" y="2468880"/>
            <a:ext cx="22860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passo 2"/>
          <p:cNvSpPr/>
          <p:nvPr/>
        </p:nvSpPr>
        <p:spPr>
          <a:xfrm>
            <a:off x="3383280" y="1463040"/>
            <a:ext cx="251460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0" name="numero 2"/>
          <p:cNvSpPr/>
          <p:nvPr/>
        </p:nvSpPr>
        <p:spPr>
          <a:xfrm>
            <a:off x="365760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377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Amplificatore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8346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due transistor ingrandiscono l'impulso</a:t>
            </a:r>
            <a:endParaRPr lang="en-US" sz="1400" dirty="0"/>
          </a:p>
        </p:txBody>
      </p:sp>
      <p:sp>
        <p:nvSpPr>
          <p:cNvPr id="14" name="freccia 1"/>
          <p:cNvSpPr/>
          <p:nvPr/>
        </p:nvSpPr>
        <p:spPr>
          <a:xfrm>
            <a:off x="5943600" y="2468880"/>
            <a:ext cx="22860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5" name="passo 3"/>
          <p:cNvSpPr/>
          <p:nvPr/>
        </p:nvSpPr>
        <p:spPr>
          <a:xfrm>
            <a:off x="6217920" y="1463040"/>
            <a:ext cx="251460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6" name="numero 3"/>
          <p:cNvSpPr/>
          <p:nvPr/>
        </p:nvSpPr>
        <p:spPr>
          <a:xfrm>
            <a:off x="649224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377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Comparatore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8346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decide: l'impulso supera la soglia? sì / no</a:t>
            </a:r>
            <a:endParaRPr lang="en-US" sz="1400" dirty="0"/>
          </a:p>
        </p:txBody>
      </p:sp>
      <p:sp>
        <p:nvSpPr>
          <p:cNvPr id="20" name="freccia 2"/>
          <p:cNvSpPr/>
          <p:nvPr/>
        </p:nvSpPr>
        <p:spPr>
          <a:xfrm>
            <a:off x="8778240" y="2468880"/>
            <a:ext cx="22860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1" name="passo 4"/>
          <p:cNvSpPr/>
          <p:nvPr/>
        </p:nvSpPr>
        <p:spPr>
          <a:xfrm>
            <a:off x="9052560" y="1463040"/>
            <a:ext cx="251460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22" name="numero 4"/>
          <p:cNvSpPr/>
          <p:nvPr/>
        </p:nvSpPr>
        <p:spPr>
          <a:xfrm>
            <a:off x="93268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268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377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Uscita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0" y="28346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impulso digitale 0–3,3 V sul connettore LEMO</a:t>
            </a:r>
            <a:endParaRPr lang="en-US" sz="1400" dirty="0"/>
          </a:p>
        </p:txBody>
      </p:sp>
      <p:sp>
        <p:nvSpPr>
          <p:cNvPr id="26" name="supporto A"/>
          <p:cNvSpPr/>
          <p:nvPr/>
        </p:nvSpPr>
        <p:spPr>
          <a:xfrm>
            <a:off x="548640" y="4114800"/>
            <a:ext cx="251460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27" name="lettera A"/>
          <p:cNvSpPr/>
          <p:nvPr/>
        </p:nvSpPr>
        <p:spPr>
          <a:xfrm>
            <a:off x="822960" y="4343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1508760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Alimentazione SiPM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02920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genera ~38 V; V1 la regola, un diodo la corregge con la temperatura</a:t>
            </a:r>
            <a:endParaRPr lang="en-US" sz="1400" dirty="0"/>
          </a:p>
        </p:txBody>
      </p:sp>
      <p:sp>
        <p:nvSpPr>
          <p:cNvPr id="31" name="supporto B"/>
          <p:cNvSpPr/>
          <p:nvPr/>
        </p:nvSpPr>
        <p:spPr>
          <a:xfrm>
            <a:off x="6217920" y="4114800"/>
            <a:ext cx="251460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32" name="lettera B"/>
          <p:cNvSpPr/>
          <p:nvPr/>
        </p:nvSpPr>
        <p:spPr>
          <a:xfrm>
            <a:off x="6492240" y="4343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9224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B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Soglia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02920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V2 fissa il livello che separa segnale e rumore</a:t>
            </a:r>
            <a:endParaRPr lang="en-US" sz="1400" dirty="0"/>
          </a:p>
        </p:txBody>
      </p:sp>
      <p:sp>
        <p:nvSpPr>
          <p:cNvPr id="36" name="supporto C"/>
          <p:cNvSpPr/>
          <p:nvPr/>
        </p:nvSpPr>
        <p:spPr>
          <a:xfrm>
            <a:off x="9052560" y="4114800"/>
            <a:ext cx="251460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37" name="lettera C"/>
          <p:cNvSpPr/>
          <p:nvPr/>
        </p:nvSpPr>
        <p:spPr>
          <a:xfrm>
            <a:off x="9326880" y="43434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32688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10012680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LED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9326880" y="5029200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 accende per ~10 ms a ogni evento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3520440" y="420624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Riga alta: il percorso del segnale.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Riga bassa: i circuiti che lo servono, sotto il blocco a cui servono — come sulla scheda.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Una scheda che si spiega da sola</a:t>
            </a:r>
            <a:endParaRPr lang="en-US" sz="3400" dirty="0"/>
          </a:p>
        </p:txBody>
      </p:sp>
      <p:pic>
        <p:nvPicPr>
          <p:cNvPr id="3" name="render scheda dall'alto" descr="/tmp/claude-0/-home-user-glacier-elettronica/f6e969b0-ef40-5949-b4fe-458eec145068/scratchpad/deck/img/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55864" cy="4983480"/>
          </a:xfrm>
          <a:prstGeom prst="rect">
            <a:avLst/>
          </a:prstGeom>
        </p:spPr>
      </p:pic>
      <p:sp>
        <p:nvSpPr>
          <p:cNvPr id="4" name="icona Fasce dall'alto in basso"/>
          <p:cNvSpPr/>
          <p:nvPr/>
        </p:nvSpPr>
        <p:spPr>
          <a:xfrm>
            <a:off x="3749040" y="14173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488" y="1572768"/>
            <a:ext cx="374904" cy="37490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709160" y="139903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Fasce dall'alto in basso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4709160" y="18013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alimentazione → tre canali identici → coincidenza</a:t>
            </a:r>
            <a:endParaRPr lang="en-US" sz="1600" dirty="0"/>
          </a:p>
        </p:txBody>
      </p:sp>
      <p:sp>
        <p:nvSpPr>
          <p:cNvPr id="8" name="icona Blocchi numerati come nello schema"/>
          <p:cNvSpPr/>
          <p:nvPr/>
        </p:nvSpPr>
        <p:spPr>
          <a:xfrm>
            <a:off x="3749040" y="2606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761488"/>
            <a:ext cx="374904" cy="37490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09160" y="25877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Blocchi numerati come nello schema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4709160" y="299008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1–4 percorso del segnale, A–C circuiti di supporto</a:t>
            </a:r>
            <a:endParaRPr lang="en-US" sz="1600" dirty="0"/>
          </a:p>
        </p:txBody>
      </p:sp>
      <p:sp>
        <p:nvSpPr>
          <p:cNvPr id="12" name="icona Ogni componente ha il suo nome"/>
          <p:cNvSpPr/>
          <p:nvPr/>
        </p:nvSpPr>
        <p:spPr>
          <a:xfrm>
            <a:off x="3749040" y="3794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4488" y="3950208"/>
            <a:ext cx="374904" cy="3749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709160" y="37764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Ogni componente ha il suo nome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4709160" y="4178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tutti i riferimenti e i nomi dei test point stampati in serigrafia</a:t>
            </a:r>
            <a:endParaRPr lang="en-US" sz="1600" dirty="0"/>
          </a:p>
        </p:txBody>
      </p:sp>
      <p:sp>
        <p:nvSpPr>
          <p:cNvPr id="16" name="icona Una legenda sul retro"/>
          <p:cNvSpPr/>
          <p:nvPr/>
        </p:nvSpPr>
        <p:spPr>
          <a:xfrm>
            <a:off x="3749040" y="4983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4488" y="5138928"/>
            <a:ext cx="374904" cy="37490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709160" y="49651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Una legenda sul retro</a:t>
            </a:r>
            <a:endParaRPr lang="en-US" sz="2000" dirty="0"/>
          </a:p>
        </p:txBody>
      </p:sp>
      <p:sp>
        <p:nvSpPr>
          <p:cNvPr id="19" name="Text 12"/>
          <p:cNvSpPr txBox="1"/>
          <p:nvPr/>
        </p:nvSpPr>
        <p:spPr>
          <a:xfrm>
            <a:off x="4709160" y="536752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«Come funziona», da leggere girando la scheda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374904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PCB 103 × 215 mm, 2 strati, 8 fori M3 · 147 componenti montati in fabbrica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Gli studenti misurano dove serve</a:t>
            </a:r>
            <a:endParaRPr lang="en-US" sz="3400" dirty="0"/>
          </a:p>
        </p:txBody>
      </p:sp>
      <p:pic>
        <p:nvPicPr>
          <p:cNvPr id="3" name="test point Keystone" descr="/tmp/claude-0/-home-user-glacier-elettronica/f6e969b0-ef40-5949-b4fe-458eec145068/scratchpad/deck/img/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49440" cy="4343400"/>
          </a:xfrm>
          <a:prstGeom prst="rect">
            <a:avLst/>
          </a:prstGeom>
        </p:spPr>
      </p:pic>
      <p:sp>
        <p:nvSpPr>
          <p:cNvPr id="4" name="callout 0"/>
          <p:cNvSpPr/>
          <p:nvPr/>
        </p:nvSpPr>
        <p:spPr>
          <a:xfrm>
            <a:off x="7863840" y="1325880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092440" y="146304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9509760" y="146304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test point per scheda, rossi per i segnali e neri per la massa</a:t>
            </a:r>
            <a:endParaRPr lang="en-US" sz="1400" dirty="0"/>
          </a:p>
        </p:txBody>
      </p:sp>
      <p:sp>
        <p:nvSpPr>
          <p:cNvPr id="7" name="callout 1"/>
          <p:cNvSpPr/>
          <p:nvPr/>
        </p:nvSpPr>
        <p:spPr>
          <a:xfrm>
            <a:off x="7863840" y="2807208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92440" y="2944368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mm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509760" y="2944368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di pista dal nodo al test point (erano 94): la sonda non disturba il segnale</a:t>
            </a:r>
            <a:endParaRPr lang="en-US" sz="1400" dirty="0"/>
          </a:p>
        </p:txBody>
      </p:sp>
      <p:sp>
        <p:nvSpPr>
          <p:cNvPr id="10" name="callout 2"/>
          <p:cNvSpPr/>
          <p:nvPr/>
        </p:nvSpPr>
        <p:spPr>
          <a:xfrm>
            <a:off x="7863840" y="4288536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4425696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3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9509760" y="4425696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stessi punti nello stesso posto in ogni canale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La coincidenza separa i muoni dal rumore</a:t>
            </a:r>
            <a:endParaRPr lang="en-US" sz="3400" dirty="0"/>
          </a:p>
        </p:txBody>
      </p:sp>
      <p:pic>
        <p:nvPicPr>
          <p:cNvPr id="3" name="zona coincidenza" descr="/tmp/claude-0/-home-user-glacier-elettronica/f6e969b0-ef40-5949-b4fe-458eec145068/scratchpad/deck/img/coi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25880"/>
            <a:ext cx="6126480" cy="3829050"/>
          </a:xfrm>
          <a:prstGeom prst="rect">
            <a:avLst/>
          </a:prstGeom>
        </p:spPr>
      </p:pic>
      <p:sp>
        <p:nvSpPr>
          <p:cNvPr id="4" name="icona Tre barre impilate"/>
          <p:cNvSpPr/>
          <p:nvPr/>
        </p:nvSpPr>
        <p:spPr>
          <a:xfrm>
            <a:off x="548640" y="13716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517904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7320" y="13441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Tre barre impilate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1417320" y="171907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un muone le attraversa tutte e tre nello stesso istante</a:t>
            </a:r>
            <a:endParaRPr lang="en-US" sz="1400" dirty="0"/>
          </a:p>
        </p:txBody>
      </p:sp>
      <p:sp>
        <p:nvSpPr>
          <p:cNvPr id="8" name="icona AND a tre ingressi"/>
          <p:cNvSpPr/>
          <p:nvPr/>
        </p:nvSpPr>
        <p:spPr>
          <a:xfrm>
            <a:off x="548640" y="2560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706624"/>
            <a:ext cx="347472" cy="34747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17320" y="2532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AND a tre ingressi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417320" y="290779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l'uscita va a 1 solo se i canali inclusi vedono un evento insieme</a:t>
            </a:r>
            <a:endParaRPr lang="en-US" sz="1400" dirty="0"/>
          </a:p>
        </p:txBody>
      </p:sp>
      <p:sp>
        <p:nvSpPr>
          <p:cNvPr id="12" name="icona Jumper CH1–CH3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895344"/>
            <a:ext cx="347472" cy="34747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3721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Jumper CH1–CH3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417320" y="409651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coincidenza doppia o tripla, scelta dagli studenti</a:t>
            </a:r>
            <a:endParaRPr lang="en-US" sz="1400" dirty="0"/>
          </a:p>
        </p:txBody>
      </p:sp>
      <p:sp>
        <p:nvSpPr>
          <p:cNvPr id="16" name="icona Lettura con Raspberry Pi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084064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417320" y="4910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Lettura con Raspberry Pi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1417320" y="528523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4 uscite LEMO; conteggi e tempi registrati via GPIO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Simulato e verificato prima della produzione</a:t>
            </a:r>
            <a:endParaRPr lang="en-US" sz="3400" dirty="0"/>
          </a:p>
        </p:txBody>
      </p:sp>
      <p:sp>
        <p:nvSpPr>
          <p:cNvPr id="3" name="verifica 0"/>
          <p:cNvSpPr/>
          <p:nvPr/>
        </p:nvSpPr>
        <p:spPr>
          <a:xfrm>
            <a:off x="548640" y="1417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41,7 V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146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alta tensione dal survoltore (simulata 41,65 V)</a:t>
            </a:r>
            <a:endParaRPr lang="en-US" sz="1500" dirty="0"/>
          </a:p>
        </p:txBody>
      </p:sp>
      <p:sp>
        <p:nvSpPr>
          <p:cNvPr id="6" name="verifica 1"/>
          <p:cNvSpPr/>
          <p:nvPr/>
        </p:nvSpPr>
        <p:spPr>
          <a:xfrm>
            <a:off x="4297680" y="1417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17720" y="16459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38,4 V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5146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bias del SiPM, regolabile con V1</a:t>
            </a:r>
            <a:endParaRPr lang="en-US" sz="1500" dirty="0"/>
          </a:p>
        </p:txBody>
      </p:sp>
      <p:sp>
        <p:nvSpPr>
          <p:cNvPr id="9" name="verifica 2"/>
          <p:cNvSpPr/>
          <p:nvPr/>
        </p:nvSpPr>
        <p:spPr>
          <a:xfrm>
            <a:off x="8046720" y="1417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66760" y="16459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3,27 V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5146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impulso di un muone all'uscita, pronto per il Raspberry Pi</a:t>
            </a:r>
            <a:endParaRPr lang="en-US" sz="1500" dirty="0"/>
          </a:p>
        </p:txBody>
      </p:sp>
      <p:sp>
        <p:nvSpPr>
          <p:cNvPr id="12" name="verifica 3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8862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10,9 ms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754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lampeggio del LED a ogni evento</a:t>
            </a:r>
            <a:endParaRPr lang="en-US" sz="1500" dirty="0"/>
          </a:p>
        </p:txBody>
      </p:sp>
      <p:sp>
        <p:nvSpPr>
          <p:cNvPr id="15" name="verifica 4"/>
          <p:cNvSpPr/>
          <p:nvPr/>
        </p:nvSpPr>
        <p:spPr>
          <a:xfrm>
            <a:off x="4297680" y="365760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17720" y="38862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754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errori DRC sul PCB</a:t>
            </a:r>
            <a:endParaRPr lang="en-US" sz="1500" dirty="0"/>
          </a:p>
        </p:txBody>
      </p:sp>
      <p:sp>
        <p:nvSpPr>
          <p:cNvPr id="18" name="verifica 5"/>
          <p:cNvSpPr/>
          <p:nvPr/>
        </p:nvSpPr>
        <p:spPr>
          <a:xfrm>
            <a:off x="8046720" y="365760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66760" y="38862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47548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errori di connettività tra schema e PCB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Simulazione LTspice/ngspice della scheda completa: impulsi dei muoni accettati, conteggi di buio rifiutati.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Circa €745 per cinque schede complete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udget 0"/>
          <p:cNvSpPr/>
          <p:nvPr/>
        </p:nvSpPr>
        <p:spPr>
          <a:xfrm>
            <a:off x="6400800" y="1371600"/>
            <a:ext cx="521208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675120" y="148132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€149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8132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per scheda, con i 3 SiPM</a:t>
            </a:r>
            <a:endParaRPr lang="en-US" sz="1600" dirty="0"/>
          </a:p>
        </p:txBody>
      </p:sp>
      <p:sp>
        <p:nvSpPr>
          <p:cNvPr id="7" name="budget 1"/>
          <p:cNvSpPr/>
          <p:nvPr/>
        </p:nvSpPr>
        <p:spPr>
          <a:xfrm>
            <a:off x="6400800" y="2788920"/>
            <a:ext cx="521208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675120" y="289864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€87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89864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per scheda senza SiPM: elettronica e PCB</a:t>
            </a:r>
            <a:endParaRPr lang="en-US" sz="1600" dirty="0"/>
          </a:p>
        </p:txBody>
      </p:sp>
      <p:sp>
        <p:nvSpPr>
          <p:cNvPr id="10" name="budget 2"/>
          <p:cNvSpPr/>
          <p:nvPr/>
        </p:nvSpPr>
        <p:spPr>
          <a:xfrm>
            <a:off x="6400800" y="4206240"/>
            <a:ext cx="521208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75120" y="4315968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31596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del costo sono i sensori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5715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IVA inclusa. Esclusi: alimentatore 5 V, cavi, scintillatori. LEMO già disponibili.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 preventivi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JLCPCB · 5 PCB + montaggio di 131 componenti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106,35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Spedizione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Dogana e 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212080" y="1188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Mouser · componenti da saldare e sensori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600200"/>
          <a:ext cx="64008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82296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SiPM AFBR-S4N22P014M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255,75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MAX961ESA+ (comparatore)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LT1636CS8 (op-amp)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LT3461AES6 (alta tensione)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Ponticelli, strip, LDO, diodi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Subtotale (spedizione gratuita, dazi inclusi)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475,87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IVA 22%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580,56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>
                    <a:lnL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F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</a:tbl>
          </a:graphicData>
        </a:graphic>
      </p:graphicFrame>
      <p:sp>
        <p:nvSpPr>
          <p:cNvPr id="7" name="totale generale"/>
          <p:cNvSpPr/>
          <p:nvPr/>
        </p:nvSpPr>
        <p:spPr>
          <a:xfrm>
            <a:off x="548640" y="3703320"/>
            <a:ext cx="42062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3840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Totale generale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42062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€744,64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Opzioni e rischi da gestire</a:t>
            </a:r>
            <a:endParaRPr lang="en-US" sz="3400" dirty="0"/>
          </a:p>
        </p:txBody>
      </p:sp>
      <p:sp>
        <p:nvSpPr>
          <p:cNvPr id="3" name="rischio 0"/>
          <p:cNvSpPr/>
          <p:nvPr/>
        </p:nvSpPr>
        <p:spPr>
          <a:xfrm>
            <a:off x="548640" y="14173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4" name="icona Anelli Keystone"/>
          <p:cNvSpPr/>
          <p:nvPr/>
        </p:nvSpPr>
        <p:spPr>
          <a:xfrm>
            <a:off x="86868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74904" cy="3749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Anelli Keystone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8600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Opzionali: +€35–45. In alternativa pin di strip, già nel budget.</a:t>
            </a:r>
            <a:endParaRPr lang="en-US" sz="1500" dirty="0"/>
          </a:p>
        </p:txBody>
      </p:sp>
      <p:sp>
        <p:nvSpPr>
          <p:cNvPr id="8" name="rischio 1"/>
          <p:cNvSpPr/>
          <p:nvPr/>
        </p:nvSpPr>
        <p:spPr>
          <a:xfrm>
            <a:off x="6172200" y="141732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9" name="icona Componenti a fine vita"/>
          <p:cNvSpPr/>
          <p:nvPr/>
        </p:nvSpPr>
        <p:spPr>
          <a:xfrm>
            <a:off x="64922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1892808"/>
            <a:ext cx="374904" cy="3749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Componenti a fine vita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8600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MAX961, LT1636, LT3461A sono NCNR. Mouser ha solo 153 MAX961: comprarne qualcuno in più.</a:t>
            </a:r>
            <a:endParaRPr lang="en-US" sz="1500" dirty="0"/>
          </a:p>
        </p:txBody>
      </p:sp>
      <p:sp>
        <p:nvSpPr>
          <p:cNvPr id="13" name="rischio 2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4" name="icona Connettori LEMO"/>
          <p:cNvSpPr/>
          <p:nvPr/>
        </p:nvSpPr>
        <p:spPr>
          <a:xfrm>
            <a:off x="868680" y="40690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224528"/>
            <a:ext cx="374904" cy="37490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Connettori LEMO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6177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Verificare il footprint con un LEMO vero sulla stampa in scala 1:1.</a:t>
            </a:r>
            <a:endParaRPr lang="en-US" sz="1500" dirty="0"/>
          </a:p>
        </p:txBody>
      </p:sp>
      <p:sp>
        <p:nvSpPr>
          <p:cNvPr id="18" name="rischio 3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9" name="icona Controllo finale"/>
          <p:cNvSpPr/>
          <p:nvPr/>
        </p:nvSpPr>
        <p:spPr>
          <a:xfrm>
            <a:off x="6492240" y="4069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4224528"/>
            <a:ext cx="374904" cy="37490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Controllo finale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6177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DRC ufficiale in KiCad prima di confermare l'ordine.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Dall'ordine alla classe</a:t>
            </a:r>
            <a:endParaRPr lang="en-US" sz="3400" dirty="0"/>
          </a:p>
        </p:txBody>
      </p:sp>
      <p:sp>
        <p:nvSpPr>
          <p:cNvPr id="3" name="icona Ordine"/>
          <p:cNvSpPr/>
          <p:nvPr/>
        </p:nvSpPr>
        <p:spPr>
          <a:xfrm>
            <a:off x="141732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1828800"/>
            <a:ext cx="457200" cy="457200"/>
          </a:xfrm>
          <a:prstGeom prst="rect">
            <a:avLst/>
          </a:prstGeom>
        </p:spPr>
      </p:pic>
      <p:sp>
        <p:nvSpPr>
          <p:cNvPr id="5" name="linea 0"/>
          <p:cNvSpPr/>
          <p:nvPr/>
        </p:nvSpPr>
        <p:spPr>
          <a:xfrm>
            <a:off x="2468880" y="2057400"/>
            <a:ext cx="18288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 Ordine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JLCPCB per PCB e montaggio, Mouser per componenti e SiPM</a:t>
            </a:r>
            <a:endParaRPr lang="en-US" sz="1500" dirty="0"/>
          </a:p>
        </p:txBody>
      </p:sp>
      <p:sp>
        <p:nvSpPr>
          <p:cNvPr id="8" name="icona Montaggio a mano"/>
          <p:cNvSpPr/>
          <p:nvPr/>
        </p:nvSpPr>
        <p:spPr>
          <a:xfrm>
            <a:off x="425196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828800"/>
            <a:ext cx="457200" cy="457200"/>
          </a:xfrm>
          <a:prstGeom prst="rect">
            <a:avLst/>
          </a:prstGeom>
        </p:spPr>
      </p:pic>
      <p:sp>
        <p:nvSpPr>
          <p:cNvPr id="10" name="linea 1"/>
          <p:cNvSpPr/>
          <p:nvPr/>
        </p:nvSpPr>
        <p:spPr>
          <a:xfrm>
            <a:off x="5303520" y="2057400"/>
            <a:ext cx="18288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3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 Montaggio a mano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32461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chip SO-8, trimmer, connettori e test point</a:t>
            </a:r>
            <a:endParaRPr lang="en-US" sz="1500" dirty="0"/>
          </a:p>
        </p:txBody>
      </p:sp>
      <p:sp>
        <p:nvSpPr>
          <p:cNvPr id="13" name="icona Collaudo"/>
          <p:cNvSpPr/>
          <p:nvPr/>
        </p:nvSpPr>
        <p:spPr>
          <a:xfrm>
            <a:off x="708660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457200" cy="457200"/>
          </a:xfrm>
          <a:prstGeom prst="rect">
            <a:avLst/>
          </a:prstGeom>
        </p:spPr>
      </p:pic>
      <p:sp>
        <p:nvSpPr>
          <p:cNvPr id="15" name="linea 2"/>
          <p:cNvSpPr/>
          <p:nvPr/>
        </p:nvSpPr>
        <p:spPr>
          <a:xfrm>
            <a:off x="8138160" y="2057400"/>
            <a:ext cx="18288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21792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 Collaudo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32461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un canale alla volta: alimentazioni, alta tensione, bias senza SiPM, soglia, SiPM</a:t>
            </a:r>
            <a:endParaRPr lang="en-US" sz="1500" dirty="0"/>
          </a:p>
        </p:txBody>
      </p:sp>
      <p:sp>
        <p:nvSpPr>
          <p:cNvPr id="18" name="icona In classe"/>
          <p:cNvSpPr/>
          <p:nvPr/>
        </p:nvSpPr>
        <p:spPr>
          <a:xfrm>
            <a:off x="992124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182880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5256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4. In classe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9144000" y="32461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conteggi, coincidenze, misure di flusso con il Raspberry Pi</a:t>
            </a:r>
            <a:endParaRPr lang="en-US" sz="1500" dirty="0"/>
          </a:p>
        </p:txBody>
      </p:sp>
      <p:sp>
        <p:nvSpPr>
          <p:cNvPr id="22" name="decisione"/>
          <p:cNvSpPr/>
          <p:nvPr/>
        </p:nvSpPr>
        <p:spPr>
          <a:xfrm>
            <a:off x="548640" y="498348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Serve: approvazione del budget di €745 per avviare gli ordini.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Pronta per l'ordine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Schema, PCB, file di produzione e preventivi sono pronti</a:t>
            </a:r>
            <a:endParaRPr lang="en-US" sz="2000" dirty="0"/>
          </a:p>
        </p:txBody>
      </p:sp>
      <p:pic>
        <p:nvPicPr>
          <p:cNvPr id="4" name="uscite LEMO" descr="/tmp/claude-0/-home-user-glacier-elettronica/f6e969b0-ef40-5949-b4fe-458eec145068/scratchpad/deck/img/l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50876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uoni">
  <a:themeElements>
    <a:clrScheme name="Muoni">
      <a:dk1>
        <a:srgbClr val="1A1F27"/>
      </a:dk1>
      <a:lt1>
        <a:srgbClr val="FFFFFF"/>
      </a:lt1>
      <a:dk2>
        <a:srgbClr val="262D38"/>
      </a:dk2>
      <a:lt2>
        <a:srgbClr val="C9D1DB"/>
      </a:lt2>
      <a:accent1>
        <a:srgbClr val="35C6E8"/>
      </a:accent1>
      <a:accent2>
        <a:srgbClr val="F2A93B"/>
      </a:accent2>
      <a:accent3>
        <a:srgbClr val="8C98A8"/>
      </a:accent3>
      <a:accent4>
        <a:srgbClr val="5BD18B"/>
      </a:accent4>
      <a:accent5>
        <a:srgbClr val="E5534B"/>
      </a:accent5>
      <a:accent6>
        <a:srgbClr val="3A4452"/>
      </a:accent6>
      <a:hlink>
        <a:srgbClr val="35C6E8"/>
      </a:hlink>
      <a:folHlink>
        <a:srgbClr val="8C98A8"/>
      </a:folHlink>
    </a:clrScheme>
    <a:fontScheme name="Muoni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Rivelatore di muoni a 3 canali</dc:title>
  <dc:subject>PptxGenJS Presentation</dc:subject>
  <dc:creator>PptxGenJS</dc:creator>
  <cp:lastModifiedBy>PptxGenJS</cp:lastModifiedBy>
  <cp:revision>1</cp:revision>
  <dcterms:created xsi:type="dcterms:W3CDTF">2026-10-09T17:24:36Z</dcterms:created>
  <dcterms:modified xsi:type="dcterms:W3CDTF">2026-10-09T17:24:36Z</dcterms:modified>
</cp:coreProperties>
</file>